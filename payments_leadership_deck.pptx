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program: automate back-office payment operations across five very different rails, on one screening spine, in four waves. The ask today is approval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structural problem: five silos, compliance applied unevenly, late manual reconciliation. The punchline is the bottom line — cost grows with volume instead of with the number of genuine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explains why payments is hard for us specifically. We are the middle, not one side. There is no single ledger — the anchor is the settlement position per rail — and every payment must clear a screening gate before settling. Compliance is the spine, not a side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principles on the left. The cards on the right are the business case in miniature: break the link between payment volume and headcount.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is deliberate and wide-ranging: five rails that behave very differently, which is why each gets its own treatment and its own AML/SAR/FinCEN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Sequencing: foundation first (nothing is straight-through without it), ACH proves the model on the highest-volume rail, RTP and Fedwire deliver the real-time screening value, and SWIFT and stablecoin take the hardest ground last. Stablecoin discovery starts in Wave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signature slide for compliance. Two distinct controls: real-time blocking sanctions screening, and behavioral AML monitoring that produces SAR/FinCEN filings. We file as the obligated institution, and every rail carries its own AML block because the obligations trigger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numbers leadership holds us to — explicitly targets pending Phase 0. The navy bar is the risk-and-cost story, which resonates most at this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levers, in priority order for payments: risk reduction leads (it is the dominant driver on irrevocable rails), then cost, scale, and readiness for what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method, not a final answer. ACH is high volume and high feasibility — first. RTP and Fedwire carry the most risk — next. SWIFT and stablecoin are hardest — last. Foundation is the enabler. Phase 0 turns this into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risks before they are asked. Data quality gates everything (so foundation is first). Real-time screening on irrevocable rails is the hardest capability. Stablecoin's regulatory uncertainty is why discovery starts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decision: approve, calibrate, fund the foundation, and authorize stablecoin discovery. Phase 0 is low-cost and de-risks everything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BRIEFING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Operations Automation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back-office payment lifecycle across RTP, Fedwire, ACH, stablecoin, and SWIFT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5138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rails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434840" y="5138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spine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269480" y="5138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payment operations  ·  US infrastructure  ·  Draft for approval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rails, five silos — and compliance applied five 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" y="2387498"/>
            <a:ext cx="345643" cy="3456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 silos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rail re-keys, repairs, screens and reconciles on its own.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148840"/>
            <a:ext cx="822960" cy="82296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818" y="2387498"/>
            <a:ext cx="345643" cy="3456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Uneven compliance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and AML differ by rail — risk and false-positive load.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148840"/>
            <a:ext cx="822960" cy="82296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298" y="2387498"/>
            <a:ext cx="345643" cy="3456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reconciliation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4964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against the settlement position surface late, worked by hand.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scales with payment volume — </a:t>
            </a:r>
            <a:pPr indent="0" marL="0">
              <a:buNone/>
            </a:pPr>
            <a:r>
              <a:rPr lang="en-US" sz="20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with exceptions.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Automation  ·  Leadership Briefing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bank sits between customers and the rails — screening is the spine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originators · beneficiaries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3017520" cy="2377440"/>
          </a:xfrm>
          <a:prstGeom prst="roundRect">
            <a:avLst>
              <a:gd name="adj" fmla="val 3077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— payment ops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validate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— OFAC / AML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&amp; reconcile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0" y="274320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rails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78240" y="33649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 · Fedwire · ACH · Stablecoin · SWIFT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0" y="3474720"/>
            <a:ext cx="1097280" cy="0"/>
          </a:xfrm>
          <a:prstGeom prst="line">
            <a:avLst/>
          </a:prstGeom>
          <a:noFill/>
          <a:ln w="31750">
            <a:solidFill>
              <a:srgbClr val="3E5C8A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3474720"/>
            <a:ext cx="1097280" cy="0"/>
          </a:xfrm>
          <a:prstGeom prst="line">
            <a:avLst/>
          </a:prstGeom>
          <a:noFill/>
          <a:ln w="31750">
            <a:solidFill>
              <a:srgbClr val="3E5C8A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payment, inbound and outbound, passes a mandatory screening gate before it settles.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Automation  ·  Leadership Briefing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PROPOSING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exception-based model on one screening spine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13232" cy="713232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477" y="2081357"/>
            <a:ext cx="299557" cy="2995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562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Straight-through by default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63040" y="22585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clear only exceptions and alerts.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898648"/>
            <a:ext cx="713232" cy="713232"/>
          </a:xfrm>
          <a:prstGeom prst="ellipse">
            <a:avLst/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77" y="3105485"/>
            <a:ext cx="299557" cy="2995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880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once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463040" y="328269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real-time service every rail calls.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922776"/>
            <a:ext cx="713232" cy="713232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77" y="4129613"/>
            <a:ext cx="299557" cy="2995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9044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 to the settlement position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463040" y="430682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integrity anchor per rail.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946904"/>
            <a:ext cx="713232" cy="713232"/>
          </a:xfrm>
          <a:prstGeom prst="ellipse">
            <a:avLst/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77" y="5153741"/>
            <a:ext cx="299557" cy="2995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92861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first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463040" y="53309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only to bridge portals, with a retirement path.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223760" y="1920240"/>
            <a:ext cx="4389120" cy="1783080"/>
          </a:xfrm>
          <a:prstGeom prst="roundRect">
            <a:avLst>
              <a:gd name="adj" fmla="val 4103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49808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498080" y="2514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→  headcount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49808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payment adds manual work.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223760" y="3886200"/>
            <a:ext cx="4389120" cy="1783080"/>
          </a:xfrm>
          <a:prstGeom prst="roundRect">
            <a:avLst>
              <a:gd name="adj" fmla="val 4103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49808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498080" y="4480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 →  headcount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7498080" y="5166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focus only on what breaks or flags.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Automation  ·  Leadership Briefing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rails — instant to on-chain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8428" y="2240280"/>
            <a:ext cx="777240" cy="77724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828" y="2465680"/>
            <a:ext cx="326441" cy="326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24/7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40690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irrevocable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25496" y="192024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5284" y="2240280"/>
            <a:ext cx="777240" cy="777240"/>
          </a:xfrm>
          <a:prstGeom prst="ellipse">
            <a:avLst/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684" y="2465680"/>
            <a:ext cx="326441" cy="32644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25496" y="320040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Fedwire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916936" y="36576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RTGS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16936" y="40690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irrevocable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102352" y="192024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92140" y="2240280"/>
            <a:ext cx="777240" cy="77724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40" y="2465680"/>
            <a:ext cx="326441" cy="32644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02352" y="320040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193792" y="36576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retail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193792" y="40690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379208" y="192024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68996" y="2240280"/>
            <a:ext cx="777240" cy="777240"/>
          </a:xfrm>
          <a:prstGeom prst="ellipse">
            <a:avLst/>
          </a:prstGeom>
          <a:solidFill>
            <a:srgbClr val="C8920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396" y="2465680"/>
            <a:ext cx="326441" cy="32644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79208" y="320040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Stablecoin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470648" y="36576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470648" y="40690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9656064" y="192024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45852" y="2240280"/>
            <a:ext cx="777240" cy="777240"/>
          </a:xfrm>
          <a:prstGeom prst="ellipse">
            <a:avLst/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1252" y="2465680"/>
            <a:ext cx="326441" cy="32644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56064" y="320040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9747504" y="36576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747504" y="40690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instant, wholesale, batch, on-chain, and cross-border — each behaves differently post-initiation.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Automation  ·  Leadership Briefing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waves — foundation 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87168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0016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12864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25712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0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12700">
            <a:solidFill>
              <a:srgbClr val="D7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74520"/>
            <a:ext cx="4425696" cy="603504"/>
          </a:xfrm>
          <a:prstGeom prst="roundRect">
            <a:avLst>
              <a:gd name="adj" fmla="val 9091"/>
            </a:avLst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874520"/>
            <a:ext cx="4151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0 — Foundation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61488" y="2633472"/>
            <a:ext cx="3319272" cy="603504"/>
          </a:xfrm>
          <a:prstGeom prst="roundRect">
            <a:avLst>
              <a:gd name="adj" fmla="val 9091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98648" y="2633472"/>
            <a:ext cx="3044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— ACH (pilot)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74336" y="3392424"/>
            <a:ext cx="3688080" cy="603504"/>
          </a:xfrm>
          <a:prstGeom prst="roundRect">
            <a:avLst>
              <a:gd name="adj" fmla="val 9091"/>
            </a:avLst>
          </a:prstGeom>
          <a:solidFill>
            <a:srgbClr val="C8920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11496" y="3392424"/>
            <a:ext cx="341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— RTP + Fedwire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87184" y="4151376"/>
            <a:ext cx="4425696" cy="603504"/>
          </a:xfrm>
          <a:prstGeom prst="roundRect">
            <a:avLst>
              <a:gd name="adj" fmla="val 9091"/>
            </a:avLst>
          </a:prstGeom>
          <a:solidFill>
            <a:srgbClr val="5A6B86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24344" y="4151376"/>
            <a:ext cx="4151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— SWIFT + Stablecoin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first  ·  ACH proves the model  ·  real-time rails deliver the value  ·  cross-border &amp; on-chain last.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Automation  ·  Leadership Briefing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controls, built in — not bolted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080" y="2419960"/>
            <a:ext cx="326441" cy="326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Sanctions screening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6974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and real-time. Stops a payment pre-send — no hold-and-review window on irrevocable rails.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94560"/>
            <a:ext cx="777240" cy="777240"/>
          </a:xfrm>
          <a:prstGeom prst="ellipse">
            <a:avLst/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419960"/>
            <a:ext cx="326441" cy="3264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AML monitoring + SAR / FinCEN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697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alerts → investigations → SAR e-filing to FinCEN, on the 30/60-day clock.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70832"/>
            <a:ext cx="548640" cy="548640"/>
          </a:xfrm>
          <a:prstGeom prst="ellipse">
            <a:avLst/>
          </a:prstGeom>
          <a:solidFill>
            <a:srgbClr val="C8920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6" y="4529938"/>
            <a:ext cx="230429" cy="2304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6052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bank files as the obligated institution  —  </a:t>
            </a:r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rail carries its own AML/SAR/FinCEN block.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· Fedwire · RTP · SWIFT · Stablecoin — each with rail-specific typologies, Travel Rule, and filing obligations.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Automation  ·  Leadership Briefing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to be calibrated with real data in Phase 0.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91740" cy="1783080"/>
          </a:xfrm>
          <a:prstGeom prst="roundRect">
            <a:avLst>
              <a:gd name="adj" fmla="val 4103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23160"/>
            <a:ext cx="2491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STP rate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06140" y="2148840"/>
            <a:ext cx="2491740" cy="1783080"/>
          </a:xfrm>
          <a:prstGeom prst="roundRect">
            <a:avLst>
              <a:gd name="adj" fmla="val 4103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6140" y="2423160"/>
            <a:ext cx="2491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97580" y="338328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pre-send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2491740" cy="1783080"/>
          </a:xfrm>
          <a:prstGeom prst="roundRect">
            <a:avLst>
              <a:gd name="adj" fmla="val 4103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423160"/>
            <a:ext cx="2491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55080" y="338328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Instant-rail coverage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21140" y="2148840"/>
            <a:ext cx="2491740" cy="1783080"/>
          </a:xfrm>
          <a:prstGeom prst="roundRect">
            <a:avLst>
              <a:gd name="adj" fmla="val 4103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21140" y="2423160"/>
            <a:ext cx="2491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212580" y="338328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payment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4526280"/>
            <a:ext cx="731520" cy="731520"/>
          </a:xfrm>
          <a:prstGeom prst="ellipse">
            <a:avLst/>
          </a:prstGeom>
          <a:solidFill>
            <a:srgbClr val="C8920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4738421"/>
            <a:ext cx="307238" cy="30723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965960" y="420624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fails and false positives  —  </a:t>
            </a:r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sanctions/fraud risk and lower cost per payment.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Automation  ·  Leadership Briefing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value comes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080" y="2419960"/>
            <a:ext cx="326441" cy="326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reduction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6974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screening spine and consistent AML/SAR cut sanctions, fraud and regulatory exposure.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94560"/>
            <a:ext cx="777240" cy="777240"/>
          </a:xfrm>
          <a:prstGeom prst="ellipse">
            <a:avLst/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419960"/>
            <a:ext cx="326441" cy="3264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35240" y="26974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Exception-based processing and fewer false positives lower cost per payment.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89120"/>
            <a:ext cx="777240" cy="77724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080" y="4614520"/>
            <a:ext cx="326441" cy="3264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389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&amp; scale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28800" y="48920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absorb volume and 24/7 demand without linear headcount.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4069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389120"/>
            <a:ext cx="777240" cy="777240"/>
          </a:xfrm>
          <a:prstGeom prst="ellipse">
            <a:avLst/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520" y="4614520"/>
            <a:ext cx="326441" cy="3264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389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35240" y="48920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platform makes new rails and volumes additive, not another silo.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Automation  ·  Leadership Briefing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PRIORITIZE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against feasibility — risk breaks the tie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2011680"/>
            <a:ext cx="0" cy="3291840"/>
          </a:xfrm>
          <a:prstGeom prst="line">
            <a:avLst/>
          </a:prstGeom>
          <a:noFill/>
          <a:ln w="19050">
            <a:solidFill>
              <a:srgbClr val="D7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5303520"/>
            <a:ext cx="6766560" cy="0"/>
          </a:xfrm>
          <a:prstGeom prst="line">
            <a:avLst/>
          </a:prstGeom>
          <a:noFill/>
          <a:ln w="19050">
            <a:solidFill>
              <a:srgbClr val="D7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5413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 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0488" y="2050085"/>
            <a:ext cx="1371600" cy="137160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79008" y="2461565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7291" y="3063240"/>
            <a:ext cx="1188720" cy="1188720"/>
          </a:xfrm>
          <a:prstGeom prst="ellipse">
            <a:avLst/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84371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 + Fedwire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8743" y="2336292"/>
            <a:ext cx="1325880" cy="1325880"/>
          </a:xfrm>
          <a:prstGeom prst="ellipse">
            <a:avLst/>
          </a:prstGeom>
          <a:solidFill>
            <a:srgbClr val="C8920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54403" y="27249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+ stablecoin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95360" y="201168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0" y="2697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first, regardless of score — every rail depends on it.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breaks the tie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0" y="4069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Irrevocable, sanctions-heavy rails are pulled earlier even when feasibility is lower.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Automation  ·  Leadership Briefing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how we manage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080" y="2419960"/>
            <a:ext cx="326441" cy="326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&amp; list data quality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7432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golden reference and sanctions data first; stewardship and versioning.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94560"/>
            <a:ext cx="777240" cy="777240"/>
          </a:xfrm>
          <a:prstGeom prst="ellipse">
            <a:avLst/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419960"/>
            <a:ext cx="326441" cy="3264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screening on irrevocable rails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7432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pre-send screening on Fedwire before going 24/7 on RTP.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89120"/>
            <a:ext cx="777240" cy="77724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080" y="4614520"/>
            <a:ext cx="326441" cy="3264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389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&amp; regulatory (stablecoin)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49377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discovery early; confirm the legal position before build.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4069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389120"/>
            <a:ext cx="777240" cy="777240"/>
          </a:xfrm>
          <a:prstGeom prst="ellipse">
            <a:avLst/>
          </a:prstGeom>
          <a:solidFill>
            <a:srgbClr val="3E5C8A"/>
          </a:solidFill>
          <a:ln/>
          <a:effectLst>
            <a:outerShdw sx="100000" sy="100000" kx="0" ky="0" algn="bl" rotWithShape="0" blurRad="88900" dist="38100" dir="5400000">
              <a:srgbClr val="9AAAC4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520" y="4614520"/>
            <a:ext cx="326441" cy="3264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389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management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35240" y="49377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transition; reskill from re-keying to clearing exceptions and alerts.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Automation  ·  Leadership Briefing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program and start Phase 0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530352" cy="530352"/>
          </a:xfrm>
          <a:prstGeom prst="ellipse">
            <a:avLst/>
          </a:prstGeom>
          <a:solidFill>
            <a:srgbClr val="C8920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88036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scope, operating model and the four-wave sequence.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694176"/>
            <a:ext cx="530352" cy="530352"/>
          </a:xfrm>
          <a:prstGeom prst="ellipse">
            <a:avLst/>
          </a:prstGeom>
          <a:solidFill>
            <a:srgbClr val="C8920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6941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3648456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Phase 0 calibration — real volumes, false-positive and break rates, risk.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462272"/>
            <a:ext cx="530352" cy="530352"/>
          </a:xfrm>
          <a:prstGeom prst="ellipse">
            <a:avLst/>
          </a:prstGeom>
          <a:solidFill>
            <a:srgbClr val="C8920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62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4416552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Wave 0 foundation, including the screening spine and AML/SAR.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5230368"/>
            <a:ext cx="530352" cy="530352"/>
          </a:xfrm>
          <a:prstGeom prst="ellipse">
            <a:avLst/>
          </a:prstGeom>
          <a:solidFill>
            <a:srgbClr val="C8920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230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5184648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stablecoin discovery to begin in parallel.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Payments Operations Automation — Leadership Briefing</dc:title>
  <dc:subject>PptxGenJS Presentation</dc:subject>
  <dc:creator>PptxGenJS</dc:creator>
  <cp:lastModifiedBy>PptxGenJS</cp:lastModifiedBy>
  <cp:revision>1</cp:revision>
  <dcterms:created xsi:type="dcterms:W3CDTF">2026-06-22T22:19:35Z</dcterms:created>
  <dcterms:modified xsi:type="dcterms:W3CDTF">2026-06-22T22:19:35Z</dcterms:modified>
</cp:coreProperties>
</file>